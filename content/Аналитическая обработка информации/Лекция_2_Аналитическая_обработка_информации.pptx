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1" r:id="rId45"/>
    <p:sldId id="302" r:id="rId46"/>
    <p:sldId id="300" r:id="rId47"/>
    <p:sldId id="304" r:id="rId48"/>
    <p:sldId id="303" r:id="rId49"/>
    <p:sldId id="305" r:id="rId50"/>
    <p:sldId id="306" r:id="rId51"/>
    <p:sldId id="307" r:id="rId52"/>
    <p:sldId id="308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416" autoAdjust="0"/>
    <p:restoredTop sz="94660"/>
  </p:normalViewPr>
  <p:slideViewPr>
    <p:cSldViewPr snapToGrid="0">
      <p:cViewPr varScale="1">
        <p:scale>
          <a:sx n="68" d="100"/>
          <a:sy n="68" d="100"/>
        </p:scale>
        <p:origin x="-60" y="-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079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4005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8763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901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7092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2939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5332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1134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78373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1327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48687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852961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7609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414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40201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4705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6653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5A549C9-B889-40DC-8EC3-F6F84A416AB9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5C76922-3CC8-48AD-96FE-B8548883003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3198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edu.loginom.dev/ap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02DADC-6768-6AAB-C04F-2E369767A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s-ES" sz="44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K-means </a:t>
            </a:r>
            <a:r>
              <a:rPr kumimoji="0" lang="ru-RU" sz="44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 кластерные силуэты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36CC90D-A7FD-06C4-8F01-5D1840544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683349"/>
            <a:ext cx="8689976" cy="881688"/>
          </a:xfrm>
        </p:spPr>
        <p:txBody>
          <a:bodyPr>
            <a:normAutofit/>
          </a:bodyPr>
          <a:lstStyle/>
          <a:p>
            <a:endParaRPr lang="ru-RU" sz="2000" cap="none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EFFDC1C-BB0E-B150-341E-7F108B2FC3E4}"/>
              </a:ext>
            </a:extLst>
          </p:cNvPr>
          <p:cNvSpPr txBox="1"/>
          <p:nvPr/>
        </p:nvSpPr>
        <p:spPr>
          <a:xfrm>
            <a:off x="1589649" y="292964"/>
            <a:ext cx="8851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b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«ГОСУДАРСТВЕННЫЙ МОРСКОЙ УНИВЕРСИТЕТ </a:t>
            </a:r>
            <a:b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ИМЕНИ АДМИРАЛА Ф.Ф.УШАКОВА»</a:t>
            </a:r>
          </a:p>
        </p:txBody>
      </p:sp>
    </p:spTree>
    <p:extLst>
      <p:ext uri="{BB962C8B-B14F-4D97-AF65-F5344CB8AC3E}">
        <p14:creationId xmlns:p14="http://schemas.microsoft.com/office/powerpoint/2010/main" xmlns="" val="270873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DE6F23-ACB5-7FC5-1B6E-0AE07511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3825" cy="1266091"/>
          </a:xfrm>
        </p:spPr>
        <p:txBody>
          <a:bodyPr/>
          <a:lstStyle/>
          <a:p>
            <a:r>
              <a:rPr kumimoji="0" lang="ru-RU" sz="32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Введение в кластеризацию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083191A-6037-ED64-B0D5-060CCFAE34C5}"/>
              </a:ext>
            </a:extLst>
          </p:cNvPr>
          <p:cNvSpPr txBox="1"/>
          <p:nvPr/>
        </p:nvSpPr>
        <p:spPr>
          <a:xfrm>
            <a:off x="450166" y="1266092"/>
            <a:ext cx="5645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Задача кластеризации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xmlns="" id="{F23319CC-46AE-A6DA-12E6-3239D6A14E8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997612"/>
            <a:ext cx="10363825" cy="4403188"/>
          </a:xfrm>
        </p:spPr>
      </p:pic>
    </p:spTree>
    <p:extLst>
      <p:ext uri="{BB962C8B-B14F-4D97-AF65-F5344CB8AC3E}">
        <p14:creationId xmlns:p14="http://schemas.microsoft.com/office/powerpoint/2010/main" xmlns="" val="193865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265CC75-7634-A678-BA25-8BDE8C67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40677"/>
            <a:ext cx="6992268" cy="1406769"/>
          </a:xfrm>
        </p:spPr>
        <p:txBody>
          <a:bodyPr/>
          <a:lstStyle/>
          <a:p>
            <a:pPr algn="l"/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Применение кластеризации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A7B93843-4212-B95E-DDE8-9A40304259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6" y="1406769"/>
            <a:ext cx="10364448" cy="5050302"/>
          </a:xfrm>
        </p:spPr>
      </p:pic>
    </p:spTree>
    <p:extLst>
      <p:ext uri="{BB962C8B-B14F-4D97-AF65-F5344CB8AC3E}">
        <p14:creationId xmlns:p14="http://schemas.microsoft.com/office/powerpoint/2010/main" xmlns="" val="67992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1663F15-FD59-C029-E354-1DEB978A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51691"/>
            <a:ext cx="10364451" cy="984739"/>
          </a:xfrm>
        </p:spPr>
        <p:txBody>
          <a:bodyPr/>
          <a:lstStyle/>
          <a:p>
            <a:pPr algn="l"/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Классификация методов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FEEF88E-E83F-73B3-3C29-BFF0420163A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336430"/>
            <a:ext cx="9577463" cy="4600135"/>
          </a:xfrm>
        </p:spPr>
      </p:pic>
    </p:spTree>
    <p:extLst>
      <p:ext uri="{BB962C8B-B14F-4D97-AF65-F5344CB8AC3E}">
        <p14:creationId xmlns:p14="http://schemas.microsoft.com/office/powerpoint/2010/main" xmlns="" val="4234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2B98067-290D-B97E-9EC1-379EAE9A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6948"/>
            <a:ext cx="10364451" cy="1181686"/>
          </a:xfrm>
        </p:spPr>
        <p:txBody>
          <a:bodyPr/>
          <a:lstStyle/>
          <a:p>
            <a:pPr algn="l"/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Гипотеза компактности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4EA5C431-11E9-D3AC-CE35-DCB7FD4FD91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378634"/>
            <a:ext cx="10364450" cy="4951827"/>
          </a:xfrm>
        </p:spPr>
      </p:pic>
    </p:spTree>
    <p:extLst>
      <p:ext uri="{BB962C8B-B14F-4D97-AF65-F5344CB8AC3E}">
        <p14:creationId xmlns:p14="http://schemas.microsoft.com/office/powerpoint/2010/main" xmlns="" val="100748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054A43-33C9-D0A3-DEF0-52AD6EFB6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09489"/>
            <a:ext cx="10364451" cy="900333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кластеризации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56109F90-5D3D-6ED4-3D23-28E049F7F1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463040"/>
            <a:ext cx="10364451" cy="4600135"/>
          </a:xfrm>
        </p:spPr>
      </p:pic>
    </p:spTree>
    <p:extLst>
      <p:ext uri="{BB962C8B-B14F-4D97-AF65-F5344CB8AC3E}">
        <p14:creationId xmlns:p14="http://schemas.microsoft.com/office/powerpoint/2010/main" xmlns="" val="4133461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718ABFD-61E8-CD4D-5C41-1A83463A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09489"/>
            <a:ext cx="10364451" cy="104100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 и профилирование кластеров 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xmlns="" id="{261ECFBE-D244-9EB2-F6E4-40F6B61E8CC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702190"/>
            <a:ext cx="4291271" cy="427657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B5DA9525-A6FB-EBF5-6D42-FC5383020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06572" y="1702191"/>
            <a:ext cx="6171654" cy="427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706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5FE430-8087-C90E-6E2C-4EF4F4BE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10"/>
            <a:ext cx="10364451" cy="1280160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Евклидово расстояние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042EBD5F-E8E2-BEF2-2DB5-914A3D619D1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406770"/>
            <a:ext cx="10364451" cy="4909624"/>
          </a:xfrm>
        </p:spPr>
      </p:pic>
    </p:spTree>
    <p:extLst>
      <p:ext uri="{BB962C8B-B14F-4D97-AF65-F5344CB8AC3E}">
        <p14:creationId xmlns:p14="http://schemas.microsoft.com/office/powerpoint/2010/main" xmlns="" val="3735080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C53947-1741-51AB-FE48-58E0F34F6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54745"/>
            <a:ext cx="10364451" cy="1308295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городских кварталов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69752FF1-83FA-F099-E26C-846587D750E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463040"/>
            <a:ext cx="10364450" cy="4881489"/>
          </a:xfrm>
        </p:spPr>
      </p:pic>
    </p:spTree>
    <p:extLst>
      <p:ext uri="{BB962C8B-B14F-4D97-AF65-F5344CB8AC3E}">
        <p14:creationId xmlns:p14="http://schemas.microsoft.com/office/powerpoint/2010/main" xmlns="" val="181127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4E7751D-F5C0-C545-AED8-830FC7F0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82880"/>
            <a:ext cx="10364451" cy="1223890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</a:t>
            </a:r>
            <a:r>
              <a:rPr lang="ru-RU" sz="3200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Чебышёва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048588A6-34D3-CF42-A01A-296634AE1E0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406770"/>
            <a:ext cx="10364451" cy="4881487"/>
          </a:xfrm>
        </p:spPr>
      </p:pic>
    </p:spTree>
    <p:extLst>
      <p:ext uri="{BB962C8B-B14F-4D97-AF65-F5344CB8AC3E}">
        <p14:creationId xmlns:p14="http://schemas.microsoft.com/office/powerpoint/2010/main" xmlns="" val="117425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A87284-9AA3-3E5E-5653-02BD6BE6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165627"/>
            <a:ext cx="10364451" cy="1201465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Суть метода </a:t>
            </a:r>
            <a:r>
              <a:rPr lang="en-GB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xmlns="" id="{D91349BC-BC2B-04FB-D894-2C949E16AF6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66091" y="2124222"/>
            <a:ext cx="9678573" cy="402335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CC463B-1E77-8C85-C6AC-59F2EF28030C}"/>
              </a:ext>
            </a:extLst>
          </p:cNvPr>
          <p:cNvSpPr txBox="1"/>
          <p:nvPr/>
        </p:nvSpPr>
        <p:spPr>
          <a:xfrm>
            <a:off x="1266091" y="272507"/>
            <a:ext cx="9678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Алгоритм </a:t>
            </a:r>
            <a:r>
              <a:rPr lang="en-GB" sz="3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ru-RU" sz="3200" b="1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6953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787BEEB-0313-A94F-BB5A-1B9560EA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12543"/>
            <a:ext cx="10364451" cy="1434903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«пончика»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2BDE8550-08CD-D63A-BD6A-999419DFD84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547445"/>
            <a:ext cx="4474152" cy="440318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7D3C17E-75F8-22DD-419E-B3F8B6E63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87926" y="1547444"/>
            <a:ext cx="5890300" cy="440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8956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C5812D3-5879-C7EE-24FF-602B92F0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81355"/>
            <a:ext cx="10364451" cy="998805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Стандартизация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F206470-95CB-3E00-5E87-BD76866983B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603717"/>
            <a:ext cx="10364450" cy="4459458"/>
          </a:xfrm>
        </p:spPr>
      </p:pic>
    </p:spTree>
    <p:extLst>
      <p:ext uri="{BB962C8B-B14F-4D97-AF65-F5344CB8AC3E}">
        <p14:creationId xmlns:p14="http://schemas.microsoft.com/office/powerpoint/2010/main" xmlns="" val="2785256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00109B-EE2B-B694-2DF6-59E0D564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6949"/>
            <a:ext cx="10364451" cy="1209820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Шаги алгоритма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F7A3C071-8A81-1282-2A26-DC8DE1A0CA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406769"/>
            <a:ext cx="4880575" cy="475488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F8A1C35-F11E-F359-F941-FD8AA9281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94349" y="1406770"/>
            <a:ext cx="5483877" cy="475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46580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35EAC7-035D-AB46-BCA9-C7717CFF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11016"/>
            <a:ext cx="10364451" cy="1209822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в </a:t>
            </a:r>
            <a:r>
              <a:rPr lang="en-GB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en-GB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BE2C7873-0B90-34E2-A8F1-D653B3674F8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420838"/>
            <a:ext cx="5008724" cy="412183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CF4B6D2-D3C0-91AD-DC87-30BB46166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22497" y="1420838"/>
            <a:ext cx="5355727" cy="412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86724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7BEEC46-01A0-7387-E13B-D8B65131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195754"/>
            <a:ext cx="10364451" cy="1171338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выбора числа </a:t>
            </a:r>
            <a:r>
              <a:rPr lang="en-GB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573EABD-675F-80BB-6BC6-E71D7C0B78C3}"/>
              </a:ext>
            </a:extLst>
          </p:cNvPr>
          <p:cNvSpPr txBox="1"/>
          <p:nvPr/>
        </p:nvSpPr>
        <p:spPr>
          <a:xfrm>
            <a:off x="1045385" y="329628"/>
            <a:ext cx="10100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ВЫБОР ЧИСЛА КЛАСТЕРОВ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xmlns="" id="{DA625656-9212-2071-6D5D-F76953C2EBD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45385" y="2138289"/>
            <a:ext cx="10100603" cy="4234376"/>
          </a:xfrm>
        </p:spPr>
      </p:pic>
    </p:spTree>
    <p:extLst>
      <p:ext uri="{BB962C8B-B14F-4D97-AF65-F5344CB8AC3E}">
        <p14:creationId xmlns:p14="http://schemas.microsoft.com/office/powerpoint/2010/main" xmlns="" val="2397269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A4594C-492C-E88E-6E7A-D64F2370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68813"/>
            <a:ext cx="10364451" cy="1195753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решения проблемы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F511BD9C-CCA8-FCFF-208D-18A6513E98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716259"/>
            <a:ext cx="10364451" cy="3929490"/>
          </a:xfrm>
        </p:spPr>
      </p:pic>
    </p:spTree>
    <p:extLst>
      <p:ext uri="{BB962C8B-B14F-4D97-AF65-F5344CB8AC3E}">
        <p14:creationId xmlns:p14="http://schemas.microsoft.com/office/powerpoint/2010/main" xmlns="" val="2506045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506C5F-4FAE-0273-17C3-C75876A2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25083"/>
            <a:ext cx="10364451" cy="1139483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«локтя»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3B34FE06-7D8A-77F9-A51C-97AAF6CA9E8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6" y="1364566"/>
            <a:ext cx="10364450" cy="4867422"/>
          </a:xfrm>
        </p:spPr>
      </p:pic>
    </p:spTree>
    <p:extLst>
      <p:ext uri="{BB962C8B-B14F-4D97-AF65-F5344CB8AC3E}">
        <p14:creationId xmlns:p14="http://schemas.microsoft.com/office/powerpoint/2010/main" xmlns="" val="3192017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8F7B6CF-BEDF-97A3-21EF-7B0C04B3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10"/>
            <a:ext cx="10364451" cy="1308296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CCF2147B-CDF8-E404-6961-41D5DB3CAA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434906"/>
            <a:ext cx="5603822" cy="472674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C813B981-6888-E720-9270-DF189B52A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17597" y="1434906"/>
            <a:ext cx="4760628" cy="472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6299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72BC5868-77AC-29BB-A9E7-7212E282523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815926"/>
            <a:ext cx="10364451" cy="5261317"/>
          </a:xfrm>
        </p:spPr>
      </p:pic>
    </p:spTree>
    <p:extLst>
      <p:ext uri="{BB962C8B-B14F-4D97-AF65-F5344CB8AC3E}">
        <p14:creationId xmlns:p14="http://schemas.microsoft.com/office/powerpoint/2010/main" xmlns="" val="135594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77F789A6-7604-31C0-7B95-D6E9ACC3545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4401" y="805375"/>
            <a:ext cx="10381956" cy="5247249"/>
          </a:xfrm>
        </p:spPr>
      </p:pic>
    </p:spTree>
    <p:extLst>
      <p:ext uri="{BB962C8B-B14F-4D97-AF65-F5344CB8AC3E}">
        <p14:creationId xmlns:p14="http://schemas.microsoft.com/office/powerpoint/2010/main" xmlns="" val="249702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AC836633-DC4F-804E-0E9A-0BF3842147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2535" y="829995"/>
            <a:ext cx="10086536" cy="4961206"/>
          </a:xfrm>
        </p:spPr>
      </p:pic>
    </p:spTree>
    <p:extLst>
      <p:ext uri="{BB962C8B-B14F-4D97-AF65-F5344CB8AC3E}">
        <p14:creationId xmlns:p14="http://schemas.microsoft.com/office/powerpoint/2010/main" xmlns="" val="3922558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78354C3-6DAA-62C3-2BB5-D8E878AB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40676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DCF49E69-48CF-0C91-B8A8-6260AF0C6E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533379"/>
            <a:ext cx="10364451" cy="4445390"/>
          </a:xfrm>
        </p:spPr>
      </p:pic>
    </p:spTree>
    <p:extLst>
      <p:ext uri="{BB962C8B-B14F-4D97-AF65-F5344CB8AC3E}">
        <p14:creationId xmlns:p14="http://schemas.microsoft.com/office/powerpoint/2010/main" xmlns="" val="3123067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B385390-281E-51C0-92B3-E356DFE65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6949"/>
            <a:ext cx="10364451" cy="128015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Еще формула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E6CC18E7-6AE0-E6AA-1D1A-60D9A351C33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477108"/>
            <a:ext cx="10364451" cy="4459457"/>
          </a:xfrm>
        </p:spPr>
      </p:pic>
    </p:spTree>
    <p:extLst>
      <p:ext uri="{BB962C8B-B14F-4D97-AF65-F5344CB8AC3E}">
        <p14:creationId xmlns:p14="http://schemas.microsoft.com/office/powerpoint/2010/main" xmlns="" val="1798509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B00F5B5-4E82-813B-F11B-5363817F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54745"/>
            <a:ext cx="10364451" cy="1308295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силуэтов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FF86E708-7750-8A25-5331-683688FE355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463041"/>
            <a:ext cx="10364451" cy="4698608"/>
          </a:xfrm>
        </p:spPr>
      </p:pic>
    </p:spTree>
    <p:extLst>
      <p:ext uri="{BB962C8B-B14F-4D97-AF65-F5344CB8AC3E}">
        <p14:creationId xmlns:p14="http://schemas.microsoft.com/office/powerpoint/2010/main" xmlns="" val="898934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CA1247E-C209-446C-209A-11CAFA208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54746"/>
            <a:ext cx="10364451" cy="1364566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Выбросы и околонулевые силуэты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4564972D-7A04-B476-F277-45CFF215A07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6" y="1519313"/>
            <a:ext cx="10364450" cy="4670472"/>
          </a:xfrm>
        </p:spPr>
      </p:pic>
    </p:spTree>
    <p:extLst>
      <p:ext uri="{BB962C8B-B14F-4D97-AF65-F5344CB8AC3E}">
        <p14:creationId xmlns:p14="http://schemas.microsoft.com/office/powerpoint/2010/main" xmlns="" val="661477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C1BECBE-182A-885A-C85E-651F3B95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40677"/>
            <a:ext cx="10364451" cy="1392701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числа кластеров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7197CB93-DE50-B79D-1C99-A037097E230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5" y="1533379"/>
            <a:ext cx="10364451" cy="4572000"/>
          </a:xfrm>
        </p:spPr>
      </p:pic>
    </p:spTree>
    <p:extLst>
      <p:ext uri="{BB962C8B-B14F-4D97-AF65-F5344CB8AC3E}">
        <p14:creationId xmlns:p14="http://schemas.microsoft.com/office/powerpoint/2010/main" xmlns="" val="3591361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8B2D1FC6-2CAA-5E83-3C07-FACEE4FC93B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97391" y="1173480"/>
            <a:ext cx="9397217" cy="4511040"/>
          </a:xfrm>
        </p:spPr>
      </p:pic>
    </p:spTree>
    <p:extLst>
      <p:ext uri="{BB962C8B-B14F-4D97-AF65-F5344CB8AC3E}">
        <p14:creationId xmlns:p14="http://schemas.microsoft.com/office/powerpoint/2010/main" xmlns="" val="1694886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97F25D8-3878-8F5C-C032-E1D66CFB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10"/>
            <a:ext cx="10364451" cy="1364566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Модельный пример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xmlns="" id="{52F18548-EF30-9B82-8364-54F4AA7BFC4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491175"/>
            <a:ext cx="5182226" cy="512063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38F655F1-BD05-8BE5-4D76-9625FD921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6000" y="1491175"/>
            <a:ext cx="5182225" cy="348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5338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C2F5CA-159B-B55C-7CAC-2C039E39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6F7BBD6-F0CA-EFE4-EF46-757E4414D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Упрощенная формула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xmlns="" id="{C5A8276A-2F0C-6AE2-DA54-2BD0166633E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3774" y="1477108"/>
            <a:ext cx="10364450" cy="4235307"/>
          </a:xfrm>
        </p:spPr>
      </p:pic>
    </p:spTree>
    <p:extLst>
      <p:ext uri="{BB962C8B-B14F-4D97-AF65-F5344CB8AC3E}">
        <p14:creationId xmlns:p14="http://schemas.microsoft.com/office/powerpoint/2010/main" xmlns="" val="733623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CCEAB1B-7ABB-EED7-55BA-D3B94383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9C1B5097-6626-ECC3-F64C-485BC3A4B81F}"/>
              </a:ext>
            </a:extLst>
          </p:cNvPr>
          <p:cNvSpPr/>
          <p:nvPr/>
        </p:nvSpPr>
        <p:spPr>
          <a:xfrm>
            <a:off x="697291" y="1112964"/>
            <a:ext cx="10797418" cy="53870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C985C813-D0B0-CE03-E176-50FABFE347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4"/>
            <a:ext cx="10363826" cy="3424107"/>
          </a:xfrm>
        </p:spPr>
        <p:txBody>
          <a:bodyPr>
            <a:normAutofit lnSpcReduction="10000"/>
          </a:bodyPr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кейса для демонстрации работы кластеризации взят набор данных с транзакциями розничной сети "продажи" . Для просмотра сценария первого вебинара и выполнения домашнего задания вам понадобится 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версии не ниже 7.0.2. Если у вас установлен 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проверьте версию.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остальных слушателей есть выбор, как работать в 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446088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Скачать и установить 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Community с официального сайта;</a:t>
            </a:r>
          </a:p>
          <a:p>
            <a:pPr marL="0" indent="446088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Работать на облачном демо-сервере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https://edu.loginom.dev/app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 логином и паролем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mastering-02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Все необходимые датасеты туда загружены в папке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кластерные силуэты.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A394D2D1-CAE2-2549-211B-21288463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2" y="2066054"/>
            <a:ext cx="6029574" cy="78507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8FB2D684-73B2-2C8D-49AA-D724FF9A5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386" y="4062655"/>
            <a:ext cx="6380169" cy="21267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EE41997B-1441-7AC7-3DBA-D95603E12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627" y="4615131"/>
            <a:ext cx="5122490" cy="136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9289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8A430D-5BB1-C33E-AF43-037B2CAB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4BF8BA2-3770-E57D-684B-813DB909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Модельные данные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260A7DC6-3A53-8EBD-C325-A6AF9C9D43F7}"/>
              </a:ext>
            </a:extLst>
          </p:cNvPr>
          <p:cNvSpPr/>
          <p:nvPr/>
        </p:nvSpPr>
        <p:spPr>
          <a:xfrm>
            <a:off x="697291" y="1112964"/>
            <a:ext cx="10797418" cy="53870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A724E390-9D7A-E9BF-5607-3FB7E15141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5"/>
            <a:ext cx="10363826" cy="1552264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сценарии в модуле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Модельные данные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находится несколько примеров синтетических наборов данных формата 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xslx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двумя полями, на которых можно изучить, как алгоритм k-</a:t>
            </a:r>
            <a:r>
              <a:rPr lang="ru-RU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обрабатывает вложенные друг в друга кластера.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2E7DC68-3F6B-E989-8B2E-12CF21B2D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50085" y="2384966"/>
            <a:ext cx="3601118" cy="10415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05CF2CEE-01FA-12E9-ED10-109EBDD11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67877" y="4334378"/>
            <a:ext cx="3601119" cy="175439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1939A479-7DEB-9A68-39D6-F71D76C3B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75" y="2206040"/>
            <a:ext cx="2104417" cy="400927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164DCCFC-4CD0-80CA-4535-CF9B3F77C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046" y="2035788"/>
            <a:ext cx="2209914" cy="4172164"/>
          </a:xfrm>
          <a:prstGeom prst="rect">
            <a:avLst/>
          </a:prstGeom>
        </p:spPr>
      </p:pic>
      <p:sp>
        <p:nvSpPr>
          <p:cNvPr id="16" name="Объект 3">
            <a:extLst>
              <a:ext uri="{FF2B5EF4-FFF2-40B4-BE49-F238E27FC236}">
                <a16:creationId xmlns:a16="http://schemas.microsoft.com/office/drawing/2014/main" xmlns="" id="{5C87A58D-BF06-D789-4552-2DBC04ECDA66}"/>
              </a:ext>
            </a:extLst>
          </p:cNvPr>
          <p:cNvSpPr txBox="1">
            <a:spLocks/>
          </p:cNvSpPr>
          <p:nvPr/>
        </p:nvSpPr>
        <p:spPr>
          <a:xfrm>
            <a:off x="3633500" y="4121870"/>
            <a:ext cx="2209914" cy="3987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k-means</a:t>
            </a: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xmlns="" id="{C4D39DDC-AD84-6F50-E86B-A91836F32746}"/>
              </a:ext>
            </a:extLst>
          </p:cNvPr>
          <p:cNvSpPr txBox="1">
            <a:spLocks/>
          </p:cNvSpPr>
          <p:nvPr/>
        </p:nvSpPr>
        <p:spPr>
          <a:xfrm>
            <a:off x="5637607" y="3430283"/>
            <a:ext cx="2209914" cy="3987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Pathbased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k-means</a:t>
            </a: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2562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674ED5-983A-F2D0-32F6-62D5B98E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D6E19F0-CCCD-9827-0624-9BF02B75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«Банки РФ»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1C483DD3-4CE6-FD12-D52B-A073EFE37D92}"/>
              </a:ext>
            </a:extLst>
          </p:cNvPr>
          <p:cNvSpPr/>
          <p:nvPr/>
        </p:nvSpPr>
        <p:spPr>
          <a:xfrm>
            <a:off x="697291" y="1112964"/>
            <a:ext cx="10797418" cy="53870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320FEFA-38F0-CBCF-0907-D787F3557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91" y="4572000"/>
            <a:ext cx="10797417" cy="19280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6BAF49A6-9D99-41CE-5246-84FDE231F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" y="1176670"/>
            <a:ext cx="5442050" cy="339533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6AA6A59D-0823-5EC7-BC3A-ECEFF5A6E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21" y="2286000"/>
            <a:ext cx="6902805" cy="2095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xmlns="" id="{46AA8D5D-D4D5-D920-E734-0B7AFAC3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493" y="1302939"/>
            <a:ext cx="4841983" cy="72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33840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F37DC60-DB53-4022-E715-88DDA8D00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EF69F85-7E3F-3F0E-19E3-DB34D15C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</a:t>
            </a:r>
            <a:r>
              <a:rPr lang="en-US" sz="32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kmeans.lgp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26F6DB6E-B771-66F7-1339-68812F0C2DDE}"/>
              </a:ext>
            </a:extLst>
          </p:cNvPr>
          <p:cNvSpPr/>
          <p:nvPr/>
        </p:nvSpPr>
        <p:spPr>
          <a:xfrm>
            <a:off x="697291" y="1112964"/>
            <a:ext cx="10797418" cy="53870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8B52D97-192A-62C7-2566-521005DDC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563" y="1600375"/>
            <a:ext cx="8732874" cy="47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479270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05E9837-922B-9953-F1C8-60D82C6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ACB2207-D8D2-31A8-741D-57C32BABF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5" y="1143956"/>
            <a:ext cx="8279843" cy="280976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C6096852-147A-A0F9-E9DB-294385435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257" y="3482315"/>
            <a:ext cx="6578938" cy="268618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097E4E3-23C9-7E83-20B2-9FAB0FB9D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«Данные»</a:t>
            </a:r>
          </a:p>
        </p:txBody>
      </p:sp>
    </p:spTree>
    <p:extLst>
      <p:ext uri="{BB962C8B-B14F-4D97-AF65-F5344CB8AC3E}">
        <p14:creationId xmlns:p14="http://schemas.microsoft.com/office/powerpoint/2010/main" xmlns="" val="4221109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F2F2419-8B76-74AC-6308-D23309F4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857D171-493D-8049-13FE-19AE845B1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«Данные»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E9C3B8F-AF00-E549-287B-C812688D9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58658" y="1322234"/>
            <a:ext cx="10474684" cy="49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2507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2039135-EA20-D093-37D8-E9853F9C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F96AC79-E393-CDBF-A2C7-3269131C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метод локтя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8EF3AB4-B9DC-0C5D-A091-A59CDB05B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8334" y="1349227"/>
            <a:ext cx="5143500" cy="4400550"/>
          </a:xfrm>
          <a:prstGeom prst="rect">
            <a:avLst/>
          </a:prstGeom>
        </p:spPr>
      </p:pic>
      <p:sp>
        <p:nvSpPr>
          <p:cNvPr id="5" name="Объект 3">
            <a:extLst>
              <a:ext uri="{FF2B5EF4-FFF2-40B4-BE49-F238E27FC236}">
                <a16:creationId xmlns:a16="http://schemas.microsoft.com/office/drawing/2014/main" xmlns="" id="{3A096B6B-4993-4C2D-D9F5-E395E4CA77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4"/>
            <a:ext cx="5437435" cy="5443779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модуле демонстрируется метод «локтя» для обоснования выбора числа </a:t>
            </a:r>
            <a:r>
              <a:rPr lang="en-US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«локтя» реализован в цикле с посусловием – узел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гиперпараметра </a:t>
            </a:r>
            <a:r>
              <a:rPr lang="en-US" b="1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 цикл имеет две входные переменные –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Начальное число кластеров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итераций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Они установлены в значения 2 и 8 соответственно.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подмодели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итерация кластеризации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происходит обучение модели алгоритмом </a:t>
            </a:r>
            <a:r>
              <a:rPr lang="en-US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заданным числом кластеров, расчет показателя </a:t>
            </a:r>
            <a:r>
              <a:rPr lang="en-US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WCSS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изменение входных переменных. Переменная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Начальное число кластеров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выхода снова подаётся на вход, таким образом на каждой итерации число кластеров увеличивается, а цикл продолжается до те пор, пока число итераций не станет равным 0.</a:t>
            </a:r>
          </a:p>
        </p:txBody>
      </p:sp>
    </p:spTree>
    <p:extLst>
      <p:ext uri="{BB962C8B-B14F-4D97-AF65-F5344CB8AC3E}">
        <p14:creationId xmlns:p14="http://schemas.microsoft.com/office/powerpoint/2010/main" xmlns="" val="2957172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FED6F6-3BB4-02AE-6A6B-EA4A6CBB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B2B40F1-7EBF-4CE5-209E-C54F4ED8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метод локтя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09375CF-8E04-C492-2A1B-AA77D358E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7460" y="1228852"/>
            <a:ext cx="11717080" cy="507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4379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DCC0EFE-6C7D-C186-56EB-0037654A1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D81476A-CB51-2A7E-C6C9-AA8E1EE6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метод локтя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xmlns="" id="{385A5CC3-FB97-89E5-C009-3E0AD4288B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4"/>
            <a:ext cx="5437435" cy="544377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того, чтобы в цикле компонент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Кластеризация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каждый раз переобучался (перестраивал модель), в настройках режима активации узла установлен переключатель на значение 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переобучать.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того, чтобы модель кластеризации обладала свойством воспроизводимости результата, то есть всегда стартовала с одной и той же случайно начальной точки (это начальные центры кластеров) и сходилась к одним и тем же конечным значениям, установим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снимем флажок</a:t>
            </a:r>
            <a:r>
              <a:rPr lang="ru-RU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Всегда случайно.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A14E9B58-01F4-F24C-D6A2-2C2E97CD9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1210" y="1112964"/>
            <a:ext cx="57150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5971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F2E6F6-1F50-8303-CA04-14C39138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C7F4F6-F131-EF2C-4516-9F96AEA6E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метод локтя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20E07F0B-13CA-5379-810A-2E539F692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52612" y="1609171"/>
            <a:ext cx="84867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08166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C98915-A122-E321-DC3E-820EEB6E6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6728D9-6C1C-66D7-191C-3CA2CCFD2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силуэты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xmlns="" id="{97800024-F242-3916-9DC7-1C9C5B02C2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4"/>
            <a:ext cx="6213872" cy="544377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модуле после построения модели кластеризации демонстрируется, как построить кластерные силуэты и рассчитать индекс качества кластеризации.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используются методы из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машинного обучения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готовому компоненту 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silhoettes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библиотеки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Kits (</a:t>
            </a:r>
            <a:r>
              <a:rPr lang="ru-RU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пакет 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loginom_sklearn_meta)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его лего встроить в сценарий без программирования на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  <a:endParaRPr lang="ru-RU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51C737A-C8EE-6508-4A97-4E3F48437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70170" y="873193"/>
            <a:ext cx="4257674" cy="511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63828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2CCA10-7263-4374-75F8-C8DEEEF9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A4A213B-B98D-A128-E68A-CA4F6FE3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силуэты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2AEBF4D-4F80-EDD4-3353-4FAAF8505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8682" y="1316665"/>
            <a:ext cx="11634635" cy="454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92117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121B40-B85F-C520-C7C3-CFF0F184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0504A0-F82F-5191-6A99-D1205DB17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силуэты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F571149-F232-65E7-881A-7A1200DA8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81755" y="1137841"/>
            <a:ext cx="8828489" cy="55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60404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7EDC42-F294-8AAC-C219-F4DB7394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E46B205-2E4C-1628-C911-DF8FFD95A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перебор силуэтами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xmlns="" id="{7A5B9A59-5286-06EB-FDED-AD5730B5BF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4"/>
            <a:ext cx="4505574" cy="544377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модуле логика обработки прошлого дополняется перебором различных вариантов кластеризации, как и в методе «локтя», только с использованием силуэтов.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перебора в цикле по критерию индекса силуэта нам следует выбирать модель с числом кластеров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k=4,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которая дает индекс силуэта 0,48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E048C41-38D5-27E4-973A-1C4AE3BF1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506765" y="978195"/>
            <a:ext cx="6582453" cy="508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92265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80CD56-E2E9-F75D-AF70-DC5508F5F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29B0D26-75FE-39C3-17E3-57DC067F1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перебор силуэтами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xmlns="" id="{4B5EEAF7-1BE9-C7D2-13BF-F68A57C371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844" y="4636612"/>
            <a:ext cx="11272311" cy="5443779"/>
          </a:xfrm>
        </p:spPr>
        <p:txBody>
          <a:bodyPr>
            <a:normAutofit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сценарии мы её снова строим, задав тот же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и ранее.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получаем финальную модель и график силуэтов.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Отрицательные значения, скорее всего, это вбросы или экстремальные значения в данных.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69B930A2-03F8-6C81-6BC7-9F071BC37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0746" y="1477108"/>
            <a:ext cx="10217480" cy="279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10653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346DD7-BFB9-E455-5D38-B45FC67C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59EEB2D-345F-9A00-8E75-537D6FCE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перебор силуэтами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6067495-DA9E-DCEC-DC0A-642B8E57D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75098" y="1249217"/>
            <a:ext cx="8841804" cy="554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9301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54FA78-D318-8B3D-95EE-BAA92239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46EDB2F-E9D7-F4C7-73D4-514C8C99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k-means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xmlns="" id="{9B5455BF-AA2D-054C-9619-8750B45CB9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7291" y="1112964"/>
            <a:ext cx="5264030" cy="5443779"/>
          </a:xfrm>
        </p:spPr>
        <p:txBody>
          <a:bodyPr>
            <a:normAutofit fontScale="85000" lnSpcReduction="20000"/>
          </a:bodyPr>
          <a:lstStyle/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модуле показывается, как реализовать обработку прошлого модуля, построив модель кластеризации </a:t>
            </a:r>
            <a:r>
              <a:rPr lang="en-US" sz="2400" b="1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встроенным в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компонентом </a:t>
            </a:r>
            <a:r>
              <a:rPr lang="ru-RU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Кластеризации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методом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cluster.Kmeans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машинного обучения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72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использования родных компонентов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построения моделей, где стандартизация выборки встроена внутрь компонентов, при использовании 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-библиотек требуется предварительно сделать стандартизацию, то есть привести входной вектор к одному масштабу. Для этого используются готовые компоненты из библиотеки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Loginom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Kits: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preprocessing.Scaler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simple.fitter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подмодели </a:t>
            </a:r>
            <a:r>
              <a:rPr lang="en-US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</a:t>
            </a:r>
            <a:r>
              <a:rPr lang="ru-RU" sz="2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592675B3-EE92-30AB-1AC4-0B1A82C98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95999" y="1342428"/>
            <a:ext cx="6028649" cy="482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98671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51D83A-68B9-23F6-0265-99F241D8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4F2EDC7-E636-8C18-AC85-62D6B8D9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k-means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36841B0-CE2C-CACC-BC0F-6C2C9324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21" y="1215088"/>
            <a:ext cx="10197558" cy="534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811972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D9130F2-79A8-0DE1-43EC-E1EF308A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CC607C-EB80-55E7-C35E-0844E9CF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k-means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45D0235-BEEA-9674-27EC-94BB848B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07" y="1282995"/>
            <a:ext cx="10554586" cy="517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44052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44E2043-7099-F336-8C62-E99F1142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E6646C2-8D01-D70A-B77C-CBC7FAC9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Кейс «Ретейл», </a:t>
            </a:r>
            <a:r>
              <a:rPr lang="en-US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k-means</a:t>
            </a:r>
            <a:endParaRPr lang="ru-RU" sz="32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FAC83097-1395-C3CF-FCB3-F697E8624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8498" y="1141228"/>
            <a:ext cx="10635004" cy="54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529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D25C41-0020-B7CD-0A2C-A4B893AB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39FF808-BC60-B62D-BC3D-D19A84C80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Модельные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A6537832-DCCE-9609-22BF-215DB6558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" y="1169581"/>
            <a:ext cx="11738344" cy="545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1796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F5039C-6494-444C-D08F-2EE5ADC2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B8705DB-647B-D843-0477-F49E0229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26609"/>
            <a:ext cx="10364451" cy="1350499"/>
          </a:xfrm>
        </p:spPr>
        <p:txBody>
          <a:bodyPr>
            <a:normAutofit/>
          </a:bodyPr>
          <a:lstStyle/>
          <a:p>
            <a:pPr algn="l"/>
            <a:r>
              <a:rPr lang="ru-RU" sz="32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Модельные данные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71F4B9D2-2E74-3AC9-D2F7-AEC8970B4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30" y="1098696"/>
            <a:ext cx="11497339" cy="554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56052695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305</TotalTime>
  <Words>732</Words>
  <Application>Microsoft Office PowerPoint</Application>
  <PresentationFormat>自定义</PresentationFormat>
  <Paragraphs>76</Paragraphs>
  <Slides>52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3" baseType="lpstr">
      <vt:lpstr>Капля</vt:lpstr>
      <vt:lpstr>K-means и кластерные силуэты</vt:lpstr>
      <vt:lpstr>1. Введение в кластеризацию</vt:lpstr>
      <vt:lpstr>Применение кластеризации</vt:lpstr>
      <vt:lpstr>Классификация методов</vt:lpstr>
      <vt:lpstr>Гипотеза компактности</vt:lpstr>
      <vt:lpstr>Этапы кластеризации</vt:lpstr>
      <vt:lpstr>Интерпретация и профилирование кластеров </vt:lpstr>
      <vt:lpstr>Евклидово расстояние</vt:lpstr>
      <vt:lpstr>Расстояние городских кварталов</vt:lpstr>
      <vt:lpstr>Расстояние Чебышёва</vt:lpstr>
      <vt:lpstr>Суть метода k-means</vt:lpstr>
      <vt:lpstr>Проблема «пончика»</vt:lpstr>
      <vt:lpstr>Стандартизация данных</vt:lpstr>
      <vt:lpstr>Шаги алгоритма</vt:lpstr>
      <vt:lpstr>Как это в loginom?</vt:lpstr>
      <vt:lpstr>Проблема выбора числа k</vt:lpstr>
      <vt:lpstr>Методы решения проблемы</vt:lpstr>
      <vt:lpstr>Метод «локтя»</vt:lpstr>
      <vt:lpstr>Основная идея</vt:lpstr>
      <vt:lpstr>幻灯片 20</vt:lpstr>
      <vt:lpstr>幻灯片 21</vt:lpstr>
      <vt:lpstr>幻灯片 22</vt:lpstr>
      <vt:lpstr>Формула</vt:lpstr>
      <vt:lpstr>Еще формула</vt:lpstr>
      <vt:lpstr>График силуэтов</vt:lpstr>
      <vt:lpstr>Выбросы и околонулевые силуэты</vt:lpstr>
      <vt:lpstr>Выбор числа кластеров</vt:lpstr>
      <vt:lpstr>幻灯片 28</vt:lpstr>
      <vt:lpstr>Модельный пример</vt:lpstr>
      <vt:lpstr>Упрощенная формула</vt:lpstr>
      <vt:lpstr>Датасеты</vt:lpstr>
      <vt:lpstr>Модельные данные</vt:lpstr>
      <vt:lpstr>Датасет «Банки РФ»</vt:lpstr>
      <vt:lpstr>Сценарий kmeans.lgp</vt:lpstr>
      <vt:lpstr>Модуль «Данные»</vt:lpstr>
      <vt:lpstr>Модуль «Данные»</vt:lpstr>
      <vt:lpstr>Кейс «Ретейл», метод локтя</vt:lpstr>
      <vt:lpstr>Кейс «Ретейл», метод локтя</vt:lpstr>
      <vt:lpstr>Кейс «Ретейл», метод локтя</vt:lpstr>
      <vt:lpstr>Кейс «Ретейл», метод локтя</vt:lpstr>
      <vt:lpstr>Кейс «Ретейл», силуэты</vt:lpstr>
      <vt:lpstr>Кейс «Ретейл», силуэты</vt:lpstr>
      <vt:lpstr>Кейс «Ретейл», силуэты</vt:lpstr>
      <vt:lpstr>Кейс «Ретейл», перебор силуэтами</vt:lpstr>
      <vt:lpstr>Кейс «Ретейл», перебор силуэтами</vt:lpstr>
      <vt:lpstr>Кейс «Ретейл», перебор силуэтами</vt:lpstr>
      <vt:lpstr>Кейс «Ретейл», Python k-means</vt:lpstr>
      <vt:lpstr>Кейс «Ретейл», Python k-means</vt:lpstr>
      <vt:lpstr>Кейс «Ретейл», Python k-means</vt:lpstr>
      <vt:lpstr>Кейс «Ретейл», Python k-means</vt:lpstr>
      <vt:lpstr>Модельные данные</vt:lpstr>
      <vt:lpstr>Модельные данные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и кластерные силуэты</dc:title>
  <dc:creator>No Кира</dc:creator>
  <cp:lastModifiedBy>China</cp:lastModifiedBy>
  <cp:revision>25</cp:revision>
  <dcterms:created xsi:type="dcterms:W3CDTF">2025-11-17T09:54:58Z</dcterms:created>
  <dcterms:modified xsi:type="dcterms:W3CDTF">2026-09-15T17:22:25Z</dcterms:modified>
</cp:coreProperties>
</file>